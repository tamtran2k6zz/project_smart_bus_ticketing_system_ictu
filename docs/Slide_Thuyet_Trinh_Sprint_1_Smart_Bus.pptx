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(00:00 - 01:00):</a:t>
            </a:r>
          </a:p>
          <a:p>
            <a:r>
              <a:t>Kính chào Thầy Cô và các bạn sinh viên trong hội đồng nghiệm thu. Hôm nay, đại diện cho Nhóm 5 (N5 Innovators), em xin phép được trình bày báo cáo nghiệm thu Sprint 1 của dự án 'Smart Bus Ticketing System' - Hệ thống đặt vé và điều hành xe buýt thông minh. Trong Sprint 1, nhóm đặt ra mục tiêu cốt lõi là xây dựng nền tảng hạ tầng vững chắc, hoàn thành toàn bộ CSDL MySQL thật 100% không dùng mock data, đóng gói Docker hoàn chỉnh và triển khai trọn vẹn các phân hệ người dùng từ Admin, Tài xế đến Hành khách.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(01:00 - 02:30):</a:t>
            </a:r>
          </a:p>
          <a:p>
            <a:r>
              <a:t>Bước vào Sprint 1, nhóm quán triệt 3 tiêu chí cốt lõi: Thứ nhất, 'Zero Mock Data' - tất cả dữ liệu từ danh mục tuyến, trạm xe, tài khoản người dùng, đơn đặt vé cho đến phản ánh sự cố đều được ghi và đọc trực tiếp từ MySQL 8.0. Thứ hai, tính sẵn sàng cao với Docker Compose - chỉ cần chạy lệnh 'docker compose up -d', 4 dịch vụ độc lập sẽ tự động kết nối và cấu hình hoàn tất. Thứ ba, giao diện đạt chuẩn thẩm mỹ cao cấp với phong cách Liquid Glass và hỗ trợ đầy đủ luồng nghiệp vụ cho mọi tác nhân.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(02:30 - 04:00):</a:t>
            </a:r>
          </a:p>
          <a:p>
            <a:r>
              <a:t>Nhóm 5 gồm 10 thành viên phối hợp chặt chẽ theo mô hình Agile Scrum: Em là Trần Đặng Công Tâm đảm nhiệm vai trò Scrum Master kiêm Leader điều phối dự án. Bộ phận Frontend gồm 3 bạn Đức, Vinh, Thiệp đảm nhiệm xây dựng giao diện người dùng mượt mà bằng React 19 và Vite. Bộ phận Backend gồm 3 bạn Tuấn, Vũ, Đức đảm nhiệm kiến trúc API Express, CSDL MySQL 8.0 và thuật toán tìm kiếm chuyến. Cùng với 3 bạn QA Ánh, Phúc, Toản liên tục kiểm thử hồi quy, đảm bảo chất lượng phần mềm tốt nhất trước khi xuất xưởng.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(04:00 - 06:00):</a:t>
            </a:r>
          </a:p>
          <a:p>
            <a:r>
              <a:t>Về kiến trúc hạ tầng: Toàn bộ hệ thống chạy trên nền Docker Compose với 4 container biệt lập: Container Frontend ở cổng 3000 sử dụng image Nginx Alpine, đóng vai trò Reverse Proxy chuyển tiếp các request /api sang Backend cổng 5000. Nhờ cấu hình này, Frontend không bao giờ bị lỗi CORS hay xung đột origin. Container CSDL MySQL 8.0 được cấu hình mở cổng 3308 trên máy host để tránh xung đột với MySQL 3306 cài sẵn trên Windows của người dùng. Đồng thời, phpMyAdmin ở cổng 8080 cho phép hội đồng kiểm tra trực quan các bản ghi trong CSDL bất cứ lúc nào.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(06:00 - 08:00):</a:t>
            </a:r>
          </a:p>
          <a:p>
            <a:r>
              <a:t>Tiếp theo là phân hệ Xác thực và Phân quyền RBAC (US 22): Mật khẩu của tất cả người dùng được mã hóa bằng thuật toán băm bcrypt 10 rounds trước khi lưu vào MySQL. Hệ thống phân chia rõ 4 vai trò với bảng quyền hạn chặt chẽ: Admin và Manager có toàn quyền điều hành tuyến và biểu phí; Tài xế chỉ truy cập cổng Driver Portal để soát vé và báo cáo sự cố; Hành khách sử dụng Passenger Portal để đặt vé và nhận ưu đãi HSSV. Đặc biệt tại trang đăng nhập, nhóm đã tích hợp sẵn 4 nút chọn nhanh tài khoản mẫu giúp kiểm thử viên không mất thời gian gõ phím.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(08:00 - 10:00):</a:t>
            </a:r>
          </a:p>
          <a:p>
            <a:r>
              <a:t>Phân hệ tiếp theo là US 12: Quản trị tuyến và trạm dừng xe buýt. Một trong những điểm nhấn kỹ thuật của nhóm là tính năng sắp xếp thứ tự trạm bằng thao tác kéo thả Drag &amp; Drop. Thay vì phải nhập số thứ tự thủ công dễ nhầm lẫn, ban quản lý chỉ cần kéo trạm thả vào vị trí mong muốn. Thư viện @dnd-kit xử lý chuyển động mượt mà, sau đó Backend tự động cập nhật lại toàn bộ thứ tự stop_order trong CSDL MySQL.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(10:00 - 12:00):</a:t>
            </a:r>
          </a:p>
          <a:p>
            <a:r>
              <a:t>Phân hệ trung tâm phục vụ hành khách là Đặt vé trực quan và Sinh mã QR (US 02, 03, 04, 06). Hành khách được quan sát sơ đồ 40 chỗ ngồi của xe, chọn vị trí ghế yêu thích chỉ với một cú nhấp chuột. Hệ thống sẽ giữ chỗ 10 phút, ghi nhận vào bảng tickets và sinh mã QR điện tử độ nét cao ngay trên màn hình. Mã QR này chứa chuỗi định danh vé duy nhất và có thể xuất trình trực tiếp cho tài xế quét khi lên xe buýt.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(12:00 - 13:30):</a:t>
            </a:r>
          </a:p>
          <a:p>
            <a:r>
              <a:t>Hệ thống cung cấp trải nghiệm chuyên biệt cho từng đối tượng: Tại Driver Portal, bác tài có công cụ soát vé cực kỳ nhanh chóng. Khi quét mã QR của khách, hệ thống kiểm tra ngay trong CSDL và đổi trạng thái vé sang CHECKED_IN, tránh vé bị quét 2 lần. Bác tài cũng có thể chủ động báo cáo sự cố đường sá để trung tâm điều độ nắm bắt. Tại Passenger Portal, hành khách có thể xem lại vé điện tử, đăng ký gói ưu đãi sinh viên và đánh giá sao chất lượng dịch vụ của từng chuyến xe.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(13:30 - 14:30):</a:t>
            </a:r>
          </a:p>
          <a:p>
            <a:r>
              <a:t>Trong quá trình triển khai Sprint 1, nhóm đã vượt qua 3 thử thách kỹ thuật quan trọng: Thứ nhất là triệt tiêu hoàn toàn lỗi màn hình đen bằng Nginx Reverse Proxy và React ErrorBoundary; Thứ hai là xử lý triệt để bảng mã tiếng Việt utf8mb4 trong MySQL; Thứ ba là chuẩn hóa luồng trả về mã QR trực quan giúp trải nghiệm đặt vé và soát vé diễn ra trơn tru nhất.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(14:30 - 15:00):</a:t>
            </a:r>
          </a:p>
          <a:p>
            <a:r>
              <a:t>Tổng kết lại, Sprint 1 đã hoàn thành xuất sắc 100% mục tiêu đề ra theo tiêu chí Definition of Done. Mã nguồn đã được đẩy lên GitHub sẵn sàng cho các bước tiếp theo. Trong Sprint 2, nhóm sẽ tiếp tục phát triển tính năng thanh toán VNPay trực tuyến và bản đồ theo dõi xe buýt GPS thời gian thực. Nhóm 5 xin chân thành cảm ơn Thầy Cô và các bạn đã lắng nghe. Xin mời Thầy Cô đặt câu hỏi cho nhóm!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474720"/>
          </a:xfrm>
          <a:prstGeom prst="rect">
            <a:avLst/>
          </a:prstGeom>
          <a:noFill/>
        </p:spPr>
        <p:txBody>
          <a:bodyPr wrap="square">
            <a:spAutoFit/>
          </a:bodyPr>
          <a:lstStyle/>
          <a:p>
            <a:pPr>
              <a:spcAft>
                <a:spcPts val="1400"/>
              </a:spcAft>
              <a:defRPr sz="1300" b="1">
                <a:solidFill>
                  <a:srgbClr val="38BDF8"/>
                </a:solidFill>
              </a:defRPr>
            </a:pPr>
            <a:r>
              <a:t>ĐỒ ÁN THỰC TẬP CƠ SỞ 2026 — ĐẠI HỌC CNTT &amp; TT (ICTU)</a:t>
            </a:r>
          </a:p>
          <a:p>
            <a:pPr>
              <a:spcAft>
                <a:spcPts val="1600"/>
              </a:spcAft>
              <a:defRPr sz="3600" b="1">
                <a:solidFill>
                  <a:srgbClr val="F8FAFC"/>
                </a:solidFill>
              </a:defRPr>
            </a:pPr>
            <a:r>
              <a:t>SMART BUS TICKETING SYSTEM</a:t>
            </a:r>
            <a:br/>
            <a:r>
              <a:t>BÁO CÁO NGHIỆM THU SPRINT 1</a:t>
            </a:r>
          </a:p>
          <a:p>
            <a:pPr>
              <a:spcAft>
                <a:spcPts val="2800"/>
              </a:spcAft>
              <a:defRPr sz="1500">
                <a:solidFill>
                  <a:srgbClr val="94A3B8"/>
                </a:solidFill>
              </a:defRPr>
            </a:pPr>
            <a:r>
              <a:t>Hệ thống vé xe buýt thông minh • 100% Zero Mock Data (MySQL 8.0) • Đóng gói trọn vẹn Docker Compose</a:t>
            </a:r>
          </a:p>
          <a:p>
            <a:pPr>
              <a:defRPr sz="1300" b="1">
                <a:solidFill>
                  <a:srgbClr val="34D399"/>
                </a:solidFill>
              </a:defRPr>
            </a:pPr>
            <a:r>
              <a:t>Nhóm thực hiện: Nhóm 5 (N5 Innovators) | Scrum Master: Trần Đặng Công Tâm</a:t>
            </a:r>
            <a:br/>
            <a:r>
              <a:t>Thời lượng báo cáo: 15 Phút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PHÚT 01:00 - 02:30 | ĐẶT VẤN ĐỀ &amp; MỤC TIÊU</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8FAFC"/>
                </a:solidFill>
              </a:defRPr>
            </a:pPr>
            <a:r>
              <a:t>MỤC TIÊU CỐT LÕI CỦA SPRINT 1 (DEFINITION OF DONE)</a:t>
            </a:r>
          </a:p>
        </p:txBody>
      </p:sp>
      <p:sp>
        <p:nvSpPr>
          <p:cNvPr id="5" name="Rounded Rectangle 4"/>
          <p:cNvSpPr/>
          <p:nvPr/>
        </p:nvSpPr>
        <p:spPr>
          <a:xfrm>
            <a:off x="731520" y="1645920"/>
            <a:ext cx="3291840" cy="4389120"/>
          </a:xfrm>
          <a:prstGeom prst="roundRect">
            <a:avLst/>
          </a:prstGeom>
          <a:solidFill>
            <a:srgbClr val="1C2541"/>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4D399"/>
                </a:solidFill>
              </a:defRPr>
            </a:pPr>
            <a:r>
              <a:t>1. ZERO MOCK DATA</a:t>
            </a:r>
          </a:p>
          <a:p>
            <a:pPr>
              <a:spcAft>
                <a:spcPts val="1400"/>
              </a:spcAft>
              <a:defRPr sz="1600" b="1">
                <a:solidFill>
                  <a:srgbClr val="F8FAFC"/>
                </a:solidFill>
              </a:defRPr>
            </a:pPr>
            <a:r>
              <a:t>Cam kết 100% CSDL Thật</a:t>
            </a:r>
          </a:p>
          <a:p>
            <a:pPr>
              <a:spcAft>
                <a:spcPts val="800"/>
              </a:spcAft>
              <a:defRPr sz="1200">
                <a:solidFill>
                  <a:srgbClr val="94A3B8"/>
                </a:solidFill>
              </a:defRPr>
            </a:pPr>
            <a:r>
              <a:t>• Tuyệt đối không dùng dữ liệu giả lập (mock data / mock test).</a:t>
            </a:r>
          </a:p>
          <a:p>
            <a:pPr>
              <a:spcAft>
                <a:spcPts val="800"/>
              </a:spcAft>
              <a:defRPr sz="1200">
                <a:solidFill>
                  <a:srgbClr val="94A3B8"/>
                </a:solidFill>
              </a:defRPr>
            </a:pPr>
            <a:r>
              <a:t>• Mọi thao tác đọc, ghi, truy vấn đều kết nối trực tiếp vào MySQL 8.0 thật.</a:t>
            </a:r>
          </a:p>
          <a:p>
            <a:pPr>
              <a:spcAft>
                <a:spcPts val="800"/>
              </a:spcAft>
              <a:defRPr sz="1200">
                <a:solidFill>
                  <a:srgbClr val="94A3B8"/>
                </a:solidFill>
              </a:defRPr>
            </a:pPr>
            <a:r>
              <a:t>• Bảo toàn nguyên vẹn tính toàn vẹn khóa ngoại (Foreign Keys) và ACID.</a:t>
            </a:r>
          </a:p>
        </p:txBody>
      </p:sp>
      <p:sp>
        <p:nvSpPr>
          <p:cNvPr id="6" name="Rounded Rectangle 5"/>
          <p:cNvSpPr/>
          <p:nvPr/>
        </p:nvSpPr>
        <p:spPr>
          <a:xfrm>
            <a:off x="4389120" y="1645920"/>
            <a:ext cx="3291840" cy="4389120"/>
          </a:xfrm>
          <a:prstGeom prst="roundRect">
            <a:avLst/>
          </a:prstGeom>
          <a:solidFill>
            <a:srgbClr val="1C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8BDF8"/>
                </a:solidFill>
              </a:defRPr>
            </a:pPr>
            <a:r>
              <a:t>2. DOCKER ĐA DỊCH VỤ</a:t>
            </a:r>
          </a:p>
          <a:p>
            <a:pPr>
              <a:spcAft>
                <a:spcPts val="1400"/>
              </a:spcAft>
              <a:defRPr sz="1600" b="1">
                <a:solidFill>
                  <a:srgbClr val="F8FAFC"/>
                </a:solidFill>
              </a:defRPr>
            </a:pPr>
            <a:r>
              <a:t>Khởi chạy 1 lệnh duy nhất</a:t>
            </a:r>
          </a:p>
          <a:p>
            <a:pPr>
              <a:spcAft>
                <a:spcPts val="800"/>
              </a:spcAft>
              <a:defRPr sz="1200">
                <a:solidFill>
                  <a:srgbClr val="94A3B8"/>
                </a:solidFill>
              </a:defRPr>
            </a:pPr>
            <a:r>
              <a:t>• 4 Containers liên kết qua mạng nội bộ Docker Network.</a:t>
            </a:r>
          </a:p>
          <a:p>
            <a:pPr>
              <a:spcAft>
                <a:spcPts val="800"/>
              </a:spcAft>
              <a:defRPr sz="1200">
                <a:solidFill>
                  <a:srgbClr val="94A3B8"/>
                </a:solidFill>
              </a:defRPr>
            </a:pPr>
            <a:r>
              <a:t>• Nginx Alpine Reverse Proxy phục vụ SPA cổng 3000.</a:t>
            </a:r>
          </a:p>
          <a:p>
            <a:pPr>
              <a:spcAft>
                <a:spcPts val="800"/>
              </a:spcAft>
              <a:defRPr sz="1200">
                <a:solidFill>
                  <a:srgbClr val="94A3B8"/>
                </a:solidFill>
              </a:defRPr>
            </a:pPr>
            <a:r>
              <a:t>• Backend Express cổng 5000 và phpMyAdmin cổng 8080.</a:t>
            </a:r>
          </a:p>
          <a:p>
            <a:pPr>
              <a:spcAft>
                <a:spcPts val="800"/>
              </a:spcAft>
              <a:defRPr sz="1200">
                <a:solidFill>
                  <a:srgbClr val="94A3B8"/>
                </a:solidFill>
              </a:defRPr>
            </a:pPr>
            <a:r>
              <a:t>• Đảm bảo môi trường chạy nhất quán trên mọi hệ điều hành.</a:t>
            </a:r>
          </a:p>
        </p:txBody>
      </p:sp>
      <p:sp>
        <p:nvSpPr>
          <p:cNvPr id="7" name="Rounded Rectangle 6"/>
          <p:cNvSpPr/>
          <p:nvPr/>
        </p:nvSpPr>
        <p:spPr>
          <a:xfrm>
            <a:off x="8046720" y="1645920"/>
            <a:ext cx="3291840" cy="4389120"/>
          </a:xfrm>
          <a:prstGeom prst="roundRect">
            <a:avLst/>
          </a:prstGeom>
          <a:solidFill>
            <a:srgbClr val="1C2541"/>
          </a:solidFill>
          <a:ln w="1905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4A90E2"/>
                </a:solidFill>
              </a:defRPr>
            </a:pPr>
            <a:r>
              <a:t>3. TRẢI NGHIỆM LIQUID GLASS</a:t>
            </a:r>
          </a:p>
          <a:p>
            <a:pPr>
              <a:spcAft>
                <a:spcPts val="1400"/>
              </a:spcAft>
              <a:defRPr sz="1600" b="1">
                <a:solidFill>
                  <a:srgbClr val="F8FAFC"/>
                </a:solidFill>
              </a:defRPr>
            </a:pPr>
            <a:r>
              <a:t>Thiết kế UI/UX Đẳng cấp</a:t>
            </a:r>
          </a:p>
          <a:p>
            <a:pPr>
              <a:spcAft>
                <a:spcPts val="800"/>
              </a:spcAft>
              <a:defRPr sz="1200">
                <a:solidFill>
                  <a:srgbClr val="94A3B8"/>
                </a:solidFill>
              </a:defRPr>
            </a:pPr>
            <a:r>
              <a:t>• Phong cách thiết kế Liquid Glass kính mờ hiện đại.</a:t>
            </a:r>
          </a:p>
          <a:p>
            <a:pPr>
              <a:spcAft>
                <a:spcPts val="800"/>
              </a:spcAft>
              <a:defRPr sz="1200">
                <a:solidFill>
                  <a:srgbClr val="94A3B8"/>
                </a:solidFill>
              </a:defRPr>
            </a:pPr>
            <a:r>
              <a:t>• Đầy đủ 4 phân hệ vai trò RBAC: Admin, Manager, Driver, Passenger.</a:t>
            </a:r>
          </a:p>
          <a:p>
            <a:pPr>
              <a:spcAft>
                <a:spcPts val="800"/>
              </a:spcAft>
              <a:defRPr sz="1200">
                <a:solidFill>
                  <a:srgbClr val="94A3B8"/>
                </a:solidFill>
              </a:defRPr>
            </a:pPr>
            <a:r>
              <a:t>• Tích hợp mã QR nét cao cho quy trình vé điện tử thông minh.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PHÚT 02:30 - 04:00 | ĐỘI NGŨ DỰ ÁN</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8FAFC"/>
                </a:solidFill>
              </a:defRPr>
            </a:pPr>
            <a:r>
              <a:t>ĐỘI NGŨ THỰC HIỆN — NHÓM 5 (N5 INNOVATORS)</a:t>
            </a:r>
          </a:p>
        </p:txBody>
      </p:sp>
      <p:sp>
        <p:nvSpPr>
          <p:cNvPr id="5" name="Rounded Rectangle 4"/>
          <p:cNvSpPr/>
          <p:nvPr/>
        </p:nvSpPr>
        <p:spPr>
          <a:xfrm>
            <a:off x="731520" y="1645920"/>
            <a:ext cx="3291840" cy="4389120"/>
          </a:xfrm>
          <a:prstGeom prst="roundRect">
            <a:avLst/>
          </a:prstGeom>
          <a:solidFill>
            <a:srgbClr val="1C254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34D399"/>
                </a:solidFill>
              </a:defRPr>
            </a:pPr>
            <a:r>
              <a:t>QUẢN LÝ &amp; KIỂM THỬ (QA)</a:t>
            </a:r>
          </a:p>
          <a:p>
            <a:pPr>
              <a:defRPr sz="1300" b="1">
                <a:solidFill>
                  <a:srgbClr val="F8FAFC"/>
                </a:solidFill>
              </a:defRPr>
            </a:pPr>
            <a:r>
              <a:t>Trần Đặng Công Tâm</a:t>
            </a:r>
          </a:p>
          <a:p>
            <a:pPr>
              <a:spcAft>
                <a:spcPts val="800"/>
              </a:spcAft>
              <a:defRPr sz="1050">
                <a:solidFill>
                  <a:srgbClr val="94A3B8"/>
                </a:solidFill>
              </a:defRPr>
            </a:pPr>
            <a:r>
              <a:t>Scrum Master &amp; Trưởng nhóm: Kiến trúc Docker, Điều phối Sprint, Review PR</a:t>
            </a:r>
          </a:p>
          <a:p>
            <a:pPr>
              <a:defRPr sz="1300" b="1">
                <a:solidFill>
                  <a:srgbClr val="F8FAFC"/>
                </a:solidFill>
              </a:defRPr>
            </a:pPr>
            <a:r>
              <a:t>Mạch Thị Ngọc Ánh</a:t>
            </a:r>
          </a:p>
          <a:p>
            <a:pPr>
              <a:spcAft>
                <a:spcPts val="800"/>
              </a:spcAft>
              <a:defRPr sz="1050">
                <a:solidFill>
                  <a:srgbClr val="94A3B8"/>
                </a:solidFill>
              </a:defRPr>
            </a:pPr>
            <a:r>
              <a:t>QA: Lập Test Case, kiểm thử chức năng soát vé QR và giao diện người dùng</a:t>
            </a:r>
          </a:p>
          <a:p>
            <a:pPr>
              <a:defRPr sz="1300" b="1">
                <a:solidFill>
                  <a:srgbClr val="F8FAFC"/>
                </a:solidFill>
              </a:defRPr>
            </a:pPr>
            <a:r>
              <a:t>Đinh Hữu Phúc</a:t>
            </a:r>
          </a:p>
          <a:p>
            <a:pPr>
              <a:spcAft>
                <a:spcPts val="800"/>
              </a:spcAft>
              <a:defRPr sz="1050">
                <a:solidFill>
                  <a:srgbClr val="94A3B8"/>
                </a:solidFill>
              </a:defRPr>
            </a:pPr>
            <a:r>
              <a:t>QA: Kiểm thử luồng tích hợp API - Frontend, bảo mật đăng nhập</a:t>
            </a:r>
          </a:p>
          <a:p>
            <a:pPr>
              <a:defRPr sz="1300" b="1">
                <a:solidFill>
                  <a:srgbClr val="F8FAFC"/>
                </a:solidFill>
              </a:defRPr>
            </a:pPr>
            <a:r>
              <a:t>Hoàng Quốc Toản</a:t>
            </a:r>
          </a:p>
          <a:p>
            <a:pPr>
              <a:spcAft>
                <a:spcPts val="800"/>
              </a:spcAft>
              <a:defRPr sz="1050">
                <a:solidFill>
                  <a:srgbClr val="94A3B8"/>
                </a:solidFill>
              </a:defRPr>
            </a:pPr>
            <a:r>
              <a:t>QA: Kiểm thử hiệu năng truy vấn CSDL, kiểm tra tiêu chuẩn nghiệm thu DoD</a:t>
            </a:r>
          </a:p>
        </p:txBody>
      </p:sp>
      <p:sp>
        <p:nvSpPr>
          <p:cNvPr id="6" name="Rounded Rectangle 5"/>
          <p:cNvSpPr/>
          <p:nvPr/>
        </p:nvSpPr>
        <p:spPr>
          <a:xfrm>
            <a:off x="4389120" y="1645920"/>
            <a:ext cx="3291840" cy="4389120"/>
          </a:xfrm>
          <a:prstGeom prst="roundRect">
            <a:avLst/>
          </a:prstGeom>
          <a:solidFill>
            <a:srgbClr val="1C254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38BDF8"/>
                </a:solidFill>
              </a:defRPr>
            </a:pPr>
            <a:r>
              <a:t>FRONTEND TEAM (UI/UX)</a:t>
            </a:r>
          </a:p>
          <a:p>
            <a:pPr>
              <a:defRPr sz="1300" b="1">
                <a:solidFill>
                  <a:srgbClr val="F8FAFC"/>
                </a:solidFill>
              </a:defRPr>
            </a:pPr>
            <a:r>
              <a:t>Nguyễn Hoàng Đức</a:t>
            </a:r>
          </a:p>
          <a:p>
            <a:pPr>
              <a:spcAft>
                <a:spcPts val="800"/>
              </a:spcAft>
              <a:defRPr sz="1050">
                <a:solidFill>
                  <a:srgbClr val="94A3B8"/>
                </a:solidFill>
              </a:defRPr>
            </a:pPr>
            <a:r>
              <a:t>FE Dev: Xây dựng Layout Auth, Quản lý State AuthContext, Phân quyền RBAC</a:t>
            </a:r>
          </a:p>
          <a:p>
            <a:pPr>
              <a:defRPr sz="1300" b="1">
                <a:solidFill>
                  <a:srgbClr val="F8FAFC"/>
                </a:solidFill>
              </a:defRPr>
            </a:pPr>
            <a:r>
              <a:t>Hà Quang Vinh</a:t>
            </a:r>
          </a:p>
          <a:p>
            <a:pPr>
              <a:spcAft>
                <a:spcPts val="800"/>
              </a:spcAft>
              <a:defRPr sz="1050">
                <a:solidFill>
                  <a:srgbClr val="94A3B8"/>
                </a:solidFill>
              </a:defRPr>
            </a:pPr>
            <a:r>
              <a:t>FE Dev: Quản trị tuyến xe buýt, Sắp xếp thứ tự trạm kéo thả (@dnd-kit)</a:t>
            </a:r>
          </a:p>
          <a:p>
            <a:pPr>
              <a:defRPr sz="1300" b="1">
                <a:solidFill>
                  <a:srgbClr val="F8FAFC"/>
                </a:solidFill>
              </a:defRPr>
            </a:pPr>
            <a:r>
              <a:t>Triệu Văn Thiệp</a:t>
            </a:r>
          </a:p>
          <a:p>
            <a:pPr>
              <a:spcAft>
                <a:spcPts val="800"/>
              </a:spcAft>
              <a:defRPr sz="1050">
                <a:solidFill>
                  <a:srgbClr val="94A3B8"/>
                </a:solidFill>
              </a:defRPr>
            </a:pPr>
            <a:r>
              <a:t>FE Dev: Xây dựng Trang chủ tra cứu, Tìm kiếm chuyến xe &amp; Kết quả tra cứu</a:t>
            </a:r>
          </a:p>
        </p:txBody>
      </p:sp>
      <p:sp>
        <p:nvSpPr>
          <p:cNvPr id="7" name="Rounded Rectangle 6"/>
          <p:cNvSpPr/>
          <p:nvPr/>
        </p:nvSpPr>
        <p:spPr>
          <a:xfrm>
            <a:off x="8046720" y="1645920"/>
            <a:ext cx="3291840" cy="4389120"/>
          </a:xfrm>
          <a:prstGeom prst="roundRect">
            <a:avLst/>
          </a:prstGeom>
          <a:solidFill>
            <a:srgbClr val="1C2541"/>
          </a:solidFill>
          <a:ln>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4A90E2"/>
                </a:solidFill>
              </a:defRPr>
            </a:pPr>
            <a:r>
              <a:t>BACKEND TEAM (API &amp; CSDL)</a:t>
            </a:r>
          </a:p>
          <a:p>
            <a:pPr>
              <a:defRPr sz="1300" b="1">
                <a:solidFill>
                  <a:srgbClr val="F8FAFC"/>
                </a:solidFill>
              </a:defRPr>
            </a:pPr>
            <a:r>
              <a:t>La Công Tuấn</a:t>
            </a:r>
          </a:p>
          <a:p>
            <a:pPr>
              <a:spcAft>
                <a:spcPts val="800"/>
              </a:spcAft>
              <a:defRPr sz="1050">
                <a:solidFill>
                  <a:srgbClr val="94A3B8"/>
                </a:solidFill>
              </a:defRPr>
            </a:pPr>
            <a:r>
              <a:t>BE Dev: Thiết kế kiến trúc Backend API, Xử lý Sơ đồ ghế, Đặt vé &amp; Sinh mã QR</a:t>
            </a:r>
          </a:p>
          <a:p>
            <a:pPr>
              <a:defRPr sz="1300" b="1">
                <a:solidFill>
                  <a:srgbClr val="F8FAFC"/>
                </a:solidFill>
              </a:defRPr>
            </a:pPr>
            <a:r>
              <a:t>Tào Hoàng Minh Vũ</a:t>
            </a:r>
          </a:p>
          <a:p>
            <a:pPr>
              <a:spcAft>
                <a:spcPts val="800"/>
              </a:spcAft>
              <a:defRPr sz="1050">
                <a:solidFill>
                  <a:srgbClr val="94A3B8"/>
                </a:solidFill>
              </a:defRPr>
            </a:pPr>
            <a:r>
              <a:t>BE Dev: Thiết kế CSDL MySQL 8.0, Migration, Bảng mã tiếng Việt utf8mb4</a:t>
            </a:r>
          </a:p>
          <a:p>
            <a:pPr>
              <a:defRPr sz="1300" b="1">
                <a:solidFill>
                  <a:srgbClr val="F8FAFC"/>
                </a:solidFill>
              </a:defRPr>
            </a:pPr>
            <a:r>
              <a:t>Nguyễn Minh Đức</a:t>
            </a:r>
          </a:p>
          <a:p>
            <a:pPr>
              <a:spcAft>
                <a:spcPts val="800"/>
              </a:spcAft>
              <a:defRPr sz="1050">
                <a:solidFill>
                  <a:srgbClr val="94A3B8"/>
                </a:solidFill>
              </a:defRPr>
            </a:pPr>
            <a:r>
              <a:t>BE Dev: Xây dựng thuật toán API tra cứu chuyến xe (US 01) tối ưu hiệu năng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PHÚT 04:00 - 06:00 | HẠ TẦNG &amp; KỸ THUẬT</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8FAFC"/>
                </a:solidFill>
              </a:defRPr>
            </a:pPr>
            <a:r>
              <a:t>KIẾN TRÚC DOCKER COMPOSE &amp; CƠ SỞ DỮ LIỆU MYSQL 8.0</a:t>
            </a:r>
          </a:p>
        </p:txBody>
      </p:sp>
      <p:sp>
        <p:nvSpPr>
          <p:cNvPr id="5" name="Rounded Rectangle 4"/>
          <p:cNvSpPr/>
          <p:nvPr/>
        </p:nvSpPr>
        <p:spPr>
          <a:xfrm>
            <a:off x="731520" y="1645920"/>
            <a:ext cx="5120640" cy="2011680"/>
          </a:xfrm>
          <a:prstGeom prst="roundRect">
            <a:avLst/>
          </a:prstGeom>
          <a:solidFill>
            <a:srgbClr val="1C254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 smartbus_frontend  [Cổng 3000]</a:t>
            </a:r>
          </a:p>
          <a:p>
            <a:pPr>
              <a:spcAft>
                <a:spcPts val="400"/>
              </a:spcAft>
              <a:defRPr sz="1100" b="1">
                <a:solidFill>
                  <a:srgbClr val="38BDF8"/>
                </a:solidFill>
              </a:defRPr>
            </a:pPr>
            <a:r>
              <a:t>Nginx:alpine + React 19 SPA</a:t>
            </a:r>
          </a:p>
          <a:p>
            <a:pPr>
              <a:defRPr sz="1050">
                <a:solidFill>
                  <a:srgbClr val="94A3B8"/>
                </a:solidFill>
              </a:defRPr>
            </a:pPr>
            <a:r>
              <a:t>• Nginx phục vụ SPA mượt mà qua try_files.</a:t>
            </a:r>
          </a:p>
          <a:p>
            <a:pPr>
              <a:defRPr sz="1050">
                <a:solidFill>
                  <a:srgbClr val="94A3B8"/>
                </a:solidFill>
              </a:defRPr>
            </a:pPr>
            <a:r>
              <a:t>• Tự động Reverse Proxy /api/ -&gt; backend:5000.</a:t>
            </a:r>
          </a:p>
          <a:p>
            <a:pPr>
              <a:defRPr sz="1050">
                <a:solidFill>
                  <a:srgbClr val="94A3B8"/>
                </a:solidFill>
              </a:defRPr>
            </a:pPr>
            <a:r>
              <a:t>• Tích hợp ErrorBoundary loại bỏ lỗi màn hình đen.</a:t>
            </a:r>
          </a:p>
        </p:txBody>
      </p:sp>
      <p:sp>
        <p:nvSpPr>
          <p:cNvPr id="6" name="Rounded Rectangle 5"/>
          <p:cNvSpPr/>
          <p:nvPr/>
        </p:nvSpPr>
        <p:spPr>
          <a:xfrm>
            <a:off x="6217920" y="1645920"/>
            <a:ext cx="5120640" cy="2011680"/>
          </a:xfrm>
          <a:prstGeom prst="roundRect">
            <a:avLst/>
          </a:prstGeom>
          <a:solidFill>
            <a:srgbClr val="1C2541"/>
          </a:solidFill>
          <a:ln>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 smartbus_backend  [Cổng 5000]</a:t>
            </a:r>
          </a:p>
          <a:p>
            <a:pPr>
              <a:spcAft>
                <a:spcPts val="400"/>
              </a:spcAft>
              <a:defRPr sz="1100" b="1">
                <a:solidFill>
                  <a:srgbClr val="38BDF8"/>
                </a:solidFill>
              </a:defRPr>
            </a:pPr>
            <a:r>
              <a:t>Node.js 20 + Express TypeScript</a:t>
            </a:r>
          </a:p>
          <a:p>
            <a:pPr>
              <a:defRPr sz="1050">
                <a:solidFill>
                  <a:srgbClr val="94A3B8"/>
                </a:solidFill>
              </a:defRPr>
            </a:pPr>
            <a:r>
              <a:t>• REST API kết nối MySQL Connection Pool.</a:t>
            </a:r>
          </a:p>
          <a:p>
            <a:pPr>
              <a:defRPr sz="1050">
                <a:solidFill>
                  <a:srgbClr val="94A3B8"/>
                </a:solidFill>
              </a:defRPr>
            </a:pPr>
            <a:r>
              <a:t>• Xác thực phân quyền JWT Bearer Token.</a:t>
            </a:r>
          </a:p>
          <a:p>
            <a:pPr>
              <a:defRPr sz="1050">
                <a:solidFill>
                  <a:srgbClr val="94A3B8"/>
                </a:solidFill>
              </a:defRPr>
            </a:pPr>
            <a:r>
              <a:t>• Thuật toán sinh mã QR và quản trị đặt vé.</a:t>
            </a:r>
          </a:p>
        </p:txBody>
      </p:sp>
      <p:sp>
        <p:nvSpPr>
          <p:cNvPr id="7" name="Rounded Rectangle 6"/>
          <p:cNvSpPr/>
          <p:nvPr/>
        </p:nvSpPr>
        <p:spPr>
          <a:xfrm>
            <a:off x="731520" y="3931920"/>
            <a:ext cx="5120640" cy="2011680"/>
          </a:xfrm>
          <a:prstGeom prst="roundRect">
            <a:avLst/>
          </a:prstGeom>
          <a:solidFill>
            <a:srgbClr val="1C254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 smartbus_mysql  [Cổng 3308]</a:t>
            </a:r>
          </a:p>
          <a:p>
            <a:pPr>
              <a:spcAft>
                <a:spcPts val="400"/>
              </a:spcAft>
              <a:defRPr sz="1100" b="1">
                <a:solidFill>
                  <a:srgbClr val="38BDF8"/>
                </a:solidFill>
              </a:defRPr>
            </a:pPr>
            <a:r>
              <a:t>MySQL 8.0 Engine</a:t>
            </a:r>
          </a:p>
          <a:p>
            <a:pPr>
              <a:defRPr sz="1050">
                <a:solidFill>
                  <a:srgbClr val="94A3B8"/>
                </a:solidFill>
              </a:defRPr>
            </a:pPr>
            <a:r>
              <a:t>• Chuẩn bảng mã tiếng Việt utf8mb4_unicode_ci.</a:t>
            </a:r>
          </a:p>
          <a:p>
            <a:pPr>
              <a:defRPr sz="1050">
                <a:solidFill>
                  <a:srgbClr val="94A3B8"/>
                </a:solidFill>
              </a:defRPr>
            </a:pPr>
            <a:r>
              <a:t>• Ràng buộc toàn vẹn khóa ngoại (Foreign Keys).</a:t>
            </a:r>
          </a:p>
          <a:p>
            <a:pPr>
              <a:defRPr sz="1050">
                <a:solidFill>
                  <a:srgbClr val="94A3B8"/>
                </a:solidFill>
              </a:defRPr>
            </a:pPr>
            <a:r>
              <a:t>• 9 bảng dữ liệu quan hệ hoàn chỉnh.</a:t>
            </a:r>
          </a:p>
        </p:txBody>
      </p:sp>
      <p:sp>
        <p:nvSpPr>
          <p:cNvPr id="8" name="Rounded Rectangle 7"/>
          <p:cNvSpPr/>
          <p:nvPr/>
        </p:nvSpPr>
        <p:spPr>
          <a:xfrm>
            <a:off x="6217920" y="3931920"/>
            <a:ext cx="5120640" cy="2011680"/>
          </a:xfrm>
          <a:prstGeom prst="roundRect">
            <a:avLst/>
          </a:prstGeom>
          <a:solidFill>
            <a:srgbClr val="1C2541"/>
          </a:solidFill>
          <a:ln>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 smartbus_phpmyadmin  [Cổng 8080]</a:t>
            </a:r>
          </a:p>
          <a:p>
            <a:pPr>
              <a:spcAft>
                <a:spcPts val="400"/>
              </a:spcAft>
              <a:defRPr sz="1100" b="1">
                <a:solidFill>
                  <a:srgbClr val="38BDF8"/>
                </a:solidFill>
              </a:defRPr>
            </a:pPr>
            <a:r>
              <a:t>phpMyAdmin Web GUI</a:t>
            </a:r>
          </a:p>
          <a:p>
            <a:pPr>
              <a:defRPr sz="1050">
                <a:solidFill>
                  <a:srgbClr val="94A3B8"/>
                </a:solidFill>
              </a:defRPr>
            </a:pPr>
            <a:r>
              <a:t>• Quản trị CSDL trực quan trên trình duyệt.</a:t>
            </a:r>
          </a:p>
          <a:p>
            <a:pPr>
              <a:defRPr sz="1050">
                <a:solidFill>
                  <a:srgbClr val="94A3B8"/>
                </a:solidFill>
              </a:defRPr>
            </a:pPr>
            <a:r>
              <a:t>• Đăng nhập tự động kết nối tài khoản root.</a:t>
            </a:r>
          </a:p>
          <a:p>
            <a:pPr>
              <a:defRPr sz="1050">
                <a:solidFill>
                  <a:srgbClr val="94A3B8"/>
                </a:solidFill>
              </a:defRPr>
            </a:pPr>
            <a:r>
              <a:t>• Cho phép giám sát dữ liệu realtime dễ dàng.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PHÚT 06:00 - 08:00 | TÍNH NĂNG LÕI</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8FAFC"/>
                </a:solidFill>
              </a:defRPr>
            </a:pPr>
            <a:r>
              <a:t>PHÂN HỆ XÁC THỰC &amp; PHÂN QUYỀN RBAC (US 22)</a:t>
            </a:r>
          </a:p>
        </p:txBody>
      </p:sp>
      <p:sp>
        <p:nvSpPr>
          <p:cNvPr id="5" name="Rounded Rectangle 4"/>
          <p:cNvSpPr/>
          <p:nvPr/>
        </p:nvSpPr>
        <p:spPr>
          <a:xfrm>
            <a:off x="731520" y="1645920"/>
            <a:ext cx="10698480" cy="1005840"/>
          </a:xfrm>
          <a:prstGeom prst="roundRect">
            <a:avLst/>
          </a:prstGeom>
          <a:solidFill>
            <a:srgbClr val="1C254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8FAFC"/>
                </a:solidFill>
              </a:defRPr>
            </a:pPr>
            <a:r>
              <a:t>👑 ADMIN (Quản trị viên)  |  Tài khoản: admin@smartbus.ictu.vn  |  Mật khẩu: Admin@12345  |  Điều hướng: /admin/routes</a:t>
            </a:r>
          </a:p>
          <a:p>
            <a:pPr>
              <a:defRPr sz="1100">
                <a:solidFill>
                  <a:srgbClr val="94A3B8"/>
                </a:solidFill>
              </a:defRPr>
            </a:pPr>
            <a:r>
              <a:t>➤ Toàn quyền quản trị hệ thống: Thống kê doanh thu, quản lý danh mục tuyến, kéo thả trạm dừng và giám sát vận hành.</a:t>
            </a:r>
          </a:p>
        </p:txBody>
      </p:sp>
      <p:sp>
        <p:nvSpPr>
          <p:cNvPr id="6" name="Rounded Rectangle 5"/>
          <p:cNvSpPr/>
          <p:nvPr/>
        </p:nvSpPr>
        <p:spPr>
          <a:xfrm>
            <a:off x="731520" y="2788920"/>
            <a:ext cx="10698480" cy="1005840"/>
          </a:xfrm>
          <a:prstGeom prst="roundRect">
            <a:avLst/>
          </a:prstGeom>
          <a:solidFill>
            <a:srgbClr val="1C2541"/>
          </a:solidFill>
          <a:ln>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8FAFC"/>
                </a:solidFill>
              </a:defRPr>
            </a:pPr>
            <a:r>
              <a:t>👔 MANAGER (Điều phối viên)  |  Tài khoản: manager@smartbus.ictu.vn  |  Mật khẩu: Manager@123  |  Điều hướng: /admin/routes</a:t>
            </a:r>
          </a:p>
          <a:p>
            <a:pPr>
              <a:defRPr sz="1100">
                <a:solidFill>
                  <a:srgbClr val="94A3B8"/>
                </a:solidFill>
              </a:defRPr>
            </a:pPr>
            <a:r>
              <a:t>➤ Quản lý điều độ mạng lưới tuyến xe buýt, phân công phương tiện và tài xế cho các khung giờ xuất bến.</a:t>
            </a:r>
          </a:p>
        </p:txBody>
      </p:sp>
      <p:sp>
        <p:nvSpPr>
          <p:cNvPr id="7" name="Rounded Rectangle 6"/>
          <p:cNvSpPr/>
          <p:nvPr/>
        </p:nvSpPr>
        <p:spPr>
          <a:xfrm>
            <a:off x="731520" y="3931920"/>
            <a:ext cx="10698480" cy="1005840"/>
          </a:xfrm>
          <a:prstGeom prst="roundRect">
            <a:avLst/>
          </a:prstGeom>
          <a:solidFill>
            <a:srgbClr val="1C254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8FAFC"/>
                </a:solidFill>
              </a:defRPr>
            </a:pPr>
            <a:r>
              <a:t>🚌 DRIVER (Tài xế lái xe)  |  Tài khoản: driver@smartbus.ictu.vn  |  Mật khẩu: Driver@123 (hoặc 0987654321)  |  Điều hướng: /driver/portal</a:t>
            </a:r>
          </a:p>
          <a:p>
            <a:pPr>
              <a:defRPr sz="1100">
                <a:solidFill>
                  <a:srgbClr val="94A3B8"/>
                </a:solidFill>
              </a:defRPr>
            </a:pPr>
            <a:r>
              <a:t>➤ Giao diện tối ưu di động: Soát vé bằng camera quét mã QR, đối soát tính hợp lệ và gửi báo cáo sự cố đường sá.</a:t>
            </a:r>
          </a:p>
        </p:txBody>
      </p:sp>
      <p:sp>
        <p:nvSpPr>
          <p:cNvPr id="8" name="Rounded Rectangle 7"/>
          <p:cNvSpPr/>
          <p:nvPr/>
        </p:nvSpPr>
        <p:spPr>
          <a:xfrm>
            <a:off x="731520" y="5074920"/>
            <a:ext cx="10698480" cy="1005840"/>
          </a:xfrm>
          <a:prstGeom prst="roundRect">
            <a:avLst/>
          </a:prstGeom>
          <a:solidFill>
            <a:srgbClr val="1C2541"/>
          </a:solidFill>
          <a:ln>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8FAFC"/>
                </a:solidFill>
              </a:defRPr>
            </a:pPr>
            <a:r>
              <a:t>🎒 PASSENGER (Hành khách)  |  Tài khoản: khachhang@gmail.com  |  Mật khẩu: User@123  |  Điều hướng: /passenger/booking</a:t>
            </a:r>
          </a:p>
          <a:p>
            <a:pPr>
              <a:defRPr sz="1100">
                <a:solidFill>
                  <a:srgbClr val="94A3B8"/>
                </a:solidFill>
              </a:defRPr>
            </a:pPr>
            <a:r>
              <a:t>➤ Tra cứu tuyến xe, đặt vé trực tuyến chọn vị trí ghế, nhận vé điện tử mã QR và gửi đánh giá dịch vụ.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PHÚT 08:00 - 10:00 | QUẢN TRỊ VẬN HÀNH</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8FAFC"/>
                </a:solidFill>
              </a:defRPr>
            </a:pPr>
            <a:r>
              <a:t>QUẢN LÝ TUYẾN XE &amp; KÉO THẢ TRẠM DỪNG (US 12)</a:t>
            </a:r>
          </a:p>
        </p:txBody>
      </p:sp>
      <p:sp>
        <p:nvSpPr>
          <p:cNvPr id="5" name="Rounded Rectangle 4"/>
          <p:cNvSpPr/>
          <p:nvPr/>
        </p:nvSpPr>
        <p:spPr>
          <a:xfrm>
            <a:off x="731520" y="1645920"/>
            <a:ext cx="5212080" cy="4389120"/>
          </a:xfrm>
          <a:prstGeom prst="roundRect">
            <a:avLst/>
          </a:prstGeom>
          <a:solidFill>
            <a:srgbClr val="1C2541"/>
          </a:solidFill>
          <a:ln>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38BDF8"/>
                </a:solidFill>
              </a:defRPr>
            </a:pPr>
            <a:r>
              <a:t>QUẢN LÝ DANH MỤC TUYẾN &amp; BIỂU PHÍ</a:t>
            </a:r>
          </a:p>
          <a:p>
            <a:pPr>
              <a:spcAft>
                <a:spcPts val="800"/>
              </a:spcAft>
              <a:defRPr sz="1200">
                <a:solidFill>
                  <a:srgbClr val="94A3B8"/>
                </a:solidFill>
              </a:defRPr>
            </a:pPr>
            <a:r>
              <a:t>• Hiển thị danh sách các tuyến xe buýt đang hoạt động (ACTIVE).</a:t>
            </a:r>
          </a:p>
          <a:p>
            <a:pPr>
              <a:spcAft>
                <a:spcPts val="800"/>
              </a:spcAft>
              <a:defRPr sz="1200">
                <a:solidFill>
                  <a:srgbClr val="94A3B8"/>
                </a:solidFill>
              </a:defRPr>
            </a:pPr>
            <a:r>
              <a:t>• Thông số đầy đủ: Mã tuyến (R01, R02), cự ly hành trình (km), biểu phí gốc và thời gian ước lượng.</a:t>
            </a:r>
          </a:p>
          <a:p>
            <a:pPr>
              <a:spcAft>
                <a:spcPts val="800"/>
              </a:spcAft>
              <a:defRPr sz="1200">
                <a:solidFill>
                  <a:srgbClr val="94A3B8"/>
                </a:solidFill>
              </a:defRPr>
            </a:pPr>
            <a:r>
              <a:t>• Bộ lọc tìm kiếm tức thì theo mã tuyến hoặc tên hành trình.</a:t>
            </a:r>
          </a:p>
          <a:p>
            <a:pPr>
              <a:spcAft>
                <a:spcPts val="800"/>
              </a:spcAft>
              <a:defRPr sz="1200">
                <a:solidFill>
                  <a:srgbClr val="94A3B8"/>
                </a:solidFill>
              </a:defRPr>
            </a:pPr>
            <a:r>
              <a:t>• Dữ liệu mẫu thực tế: Tuyến R01 (Mỹ Đình - Long Biên), Tuyến R02 (Yên Nghĩa - Nội Bài).</a:t>
            </a:r>
          </a:p>
        </p:txBody>
      </p:sp>
      <p:sp>
        <p:nvSpPr>
          <p:cNvPr id="6" name="Rounded Rectangle 5"/>
          <p:cNvSpPr/>
          <p:nvPr/>
        </p:nvSpPr>
        <p:spPr>
          <a:xfrm>
            <a:off x="6217920" y="1645920"/>
            <a:ext cx="5212080" cy="4389120"/>
          </a:xfrm>
          <a:prstGeom prst="roundRect">
            <a:avLst/>
          </a:prstGeom>
          <a:solidFill>
            <a:srgbClr val="1C254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34D399"/>
                </a:solidFill>
              </a:defRPr>
            </a:pPr>
            <a:r>
              <a:t>SẮP XẾP TRẠM KÉO THẢ (@dnd-kit)</a:t>
            </a:r>
          </a:p>
          <a:p>
            <a:pPr>
              <a:spcAft>
                <a:spcPts val="800"/>
              </a:spcAft>
              <a:defRPr sz="1200">
                <a:solidFill>
                  <a:srgbClr val="94A3B8"/>
                </a:solidFill>
              </a:defRPr>
            </a:pPr>
            <a:r>
              <a:t>• Sử dụng công nghệ Drag &amp; Drop hiện đại nhất với thư viện @dnd-kit.</a:t>
            </a:r>
          </a:p>
          <a:p>
            <a:pPr>
              <a:spcAft>
                <a:spcPts val="800"/>
              </a:spcAft>
              <a:defRPr sz="1200">
                <a:solidFill>
                  <a:srgbClr val="94A3B8"/>
                </a:solidFill>
              </a:defRPr>
            </a:pPr>
            <a:r>
              <a:t>• Điều phối viên có thể nắm kéo thay đổi thứ tự đón/trả khách giữa các trạm dừng.</a:t>
            </a:r>
          </a:p>
          <a:p>
            <a:pPr>
              <a:spcAft>
                <a:spcPts val="800"/>
              </a:spcAft>
              <a:defRPr sz="1200">
                <a:solidFill>
                  <a:srgbClr val="94A3B8"/>
                </a:solidFill>
              </a:defRPr>
            </a:pPr>
            <a:r>
              <a:t>• Tự động tính toán lại khoảng cách từ trạm đầu và thời gian dự kiến (phút).</a:t>
            </a:r>
          </a:p>
          <a:p>
            <a:pPr>
              <a:spcAft>
                <a:spcPts val="800"/>
              </a:spcAft>
              <a:defRPr sz="1200">
                <a:solidFill>
                  <a:srgbClr val="94A3B8"/>
                </a:solidFill>
              </a:defRPr>
            </a:pPr>
            <a:r>
              <a:t>• Lưu đồng bộ tức thì vào bảng route_stops trong MySQL, đảm bảo lộ trình luôn chính xác.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PHÚT 10:00 - 12:00 | TÍNH NĂNG CỐT LÕI</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8FAFC"/>
                </a:solidFill>
              </a:defRPr>
            </a:pPr>
            <a:r>
              <a:t>ĐẶT VÉ TRỰC TUYẾN, SƠ ĐỒ 40 GHẾ &amp; MÃ QR ĐIỆN TỬ</a:t>
            </a:r>
          </a:p>
        </p:txBody>
      </p:sp>
      <p:sp>
        <p:nvSpPr>
          <p:cNvPr id="5" name="Rounded Rectangle 4"/>
          <p:cNvSpPr/>
          <p:nvPr/>
        </p:nvSpPr>
        <p:spPr>
          <a:xfrm>
            <a:off x="731520" y="1645920"/>
            <a:ext cx="3291840" cy="4389120"/>
          </a:xfrm>
          <a:prstGeom prst="roundRect">
            <a:avLst/>
          </a:prstGeom>
          <a:solidFill>
            <a:srgbClr val="1C254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34D399"/>
                </a:solidFill>
              </a:defRPr>
            </a:pPr>
            <a:r>
              <a:t>SƠ ĐỒ 40 CHỖ NGỒI</a:t>
            </a:r>
          </a:p>
          <a:p>
            <a:pPr>
              <a:spcAft>
                <a:spcPts val="600"/>
              </a:spcAft>
              <a:defRPr sz="1100">
                <a:solidFill>
                  <a:srgbClr val="F8FAFC"/>
                </a:solidFill>
              </a:defRPr>
            </a:pPr>
            <a:r>
              <a:t>• Mô phỏng trực quan 40 ghế trên xe buýt.</a:t>
            </a:r>
          </a:p>
          <a:p>
            <a:pPr>
              <a:spcAft>
                <a:spcPts val="600"/>
              </a:spcAft>
              <a:defRPr sz="1100">
                <a:solidFill>
                  <a:srgbClr val="F8FAFC"/>
                </a:solidFill>
              </a:defRPr>
            </a:pPr>
            <a:r>
              <a:t>• Phân loại trạng thái ghế:</a:t>
            </a:r>
          </a:p>
          <a:p>
            <a:pPr>
              <a:spcAft>
                <a:spcPts val="600"/>
              </a:spcAft>
              <a:defRPr sz="1100">
                <a:solidFill>
                  <a:srgbClr val="94A3B8"/>
                </a:solidFill>
              </a:defRPr>
            </a:pPr>
            <a:r>
              <a:t>  + Xanh lá: Ghế trống sẵn sàng</a:t>
            </a:r>
          </a:p>
          <a:p>
            <a:pPr>
              <a:spcAft>
                <a:spcPts val="600"/>
              </a:spcAft>
              <a:defRPr sz="1100">
                <a:solidFill>
                  <a:srgbClr val="94A3B8"/>
                </a:solidFill>
              </a:defRPr>
            </a:pPr>
            <a:r>
              <a:t>  + Xanh dương: Ghế đang chọn</a:t>
            </a:r>
          </a:p>
          <a:p>
            <a:pPr>
              <a:spcAft>
                <a:spcPts val="600"/>
              </a:spcAft>
              <a:defRPr sz="1100">
                <a:solidFill>
                  <a:srgbClr val="94A3B8"/>
                </a:solidFill>
              </a:defRPr>
            </a:pPr>
            <a:r>
              <a:t>  + Xám mờ: Ghế đã có người đặt</a:t>
            </a:r>
          </a:p>
          <a:p>
            <a:pPr>
              <a:spcAft>
                <a:spcPts val="600"/>
              </a:spcAft>
              <a:defRPr sz="1100">
                <a:solidFill>
                  <a:srgbClr val="F8FAFC"/>
                </a:solidFill>
              </a:defRPr>
            </a:pPr>
            <a:r>
              <a:t>• Chống xung đột đặt trùng ghế realtime.</a:t>
            </a:r>
          </a:p>
        </p:txBody>
      </p:sp>
      <p:sp>
        <p:nvSpPr>
          <p:cNvPr id="6" name="Rounded Rectangle 5"/>
          <p:cNvSpPr/>
          <p:nvPr/>
        </p:nvSpPr>
        <p:spPr>
          <a:xfrm>
            <a:off x="4389120" y="1645920"/>
            <a:ext cx="3291840" cy="4389120"/>
          </a:xfrm>
          <a:prstGeom prst="roundRect">
            <a:avLst/>
          </a:prstGeom>
          <a:solidFill>
            <a:srgbClr val="1C254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38BDF8"/>
                </a:solidFill>
              </a:defRPr>
            </a:pPr>
            <a:r>
              <a:t>CƠ CHẾ GIỮ CHỖ 10 PHÚT</a:t>
            </a:r>
          </a:p>
          <a:p>
            <a:pPr>
              <a:spcAft>
                <a:spcPts val="600"/>
              </a:spcAft>
              <a:defRPr sz="1100">
                <a:solidFill>
                  <a:srgbClr val="F8FAFC"/>
                </a:solidFill>
              </a:defRPr>
            </a:pPr>
            <a:r>
              <a:t>• Hành khách giữ chỗ trong 10 phút để hoàn tất giao dịch.</a:t>
            </a:r>
          </a:p>
          <a:p>
            <a:pPr>
              <a:spcAft>
                <a:spcPts val="600"/>
              </a:spcAft>
              <a:defRPr sz="1100">
                <a:solidFill>
                  <a:srgbClr val="F8FAFC"/>
                </a:solidFill>
              </a:defRPr>
            </a:pPr>
            <a:r>
              <a:t>• Đếm ngược thời gian hạn thanh toán.</a:t>
            </a:r>
          </a:p>
          <a:p>
            <a:pPr>
              <a:spcAft>
                <a:spcPts val="600"/>
              </a:spcAft>
              <a:defRPr sz="1100">
                <a:solidFill>
                  <a:srgbClr val="F8FAFC"/>
                </a:solidFill>
              </a:defRPr>
            </a:pPr>
            <a:r>
              <a:t>• Tự động giải phóng ghế nếu quá hạn mà chưa xác nhận.</a:t>
            </a:r>
          </a:p>
          <a:p>
            <a:pPr>
              <a:spcAft>
                <a:spcPts val="600"/>
              </a:spcAft>
              <a:defRPr sz="1100">
                <a:solidFill>
                  <a:srgbClr val="F8FAFC"/>
                </a:solidFill>
              </a:defRPr>
            </a:pPr>
            <a:r>
              <a:t>• Tích hợp mã giảm giá Voucher sinh viên.</a:t>
            </a:r>
          </a:p>
        </p:txBody>
      </p:sp>
      <p:sp>
        <p:nvSpPr>
          <p:cNvPr id="7" name="Rounded Rectangle 6"/>
          <p:cNvSpPr/>
          <p:nvPr/>
        </p:nvSpPr>
        <p:spPr>
          <a:xfrm>
            <a:off x="8046720" y="1645920"/>
            <a:ext cx="3291840" cy="4389120"/>
          </a:xfrm>
          <a:prstGeom prst="roundRect">
            <a:avLst/>
          </a:prstGeom>
          <a:solidFill>
            <a:srgbClr val="1C2541"/>
          </a:solidFill>
          <a:ln>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300" b="1">
                <a:solidFill>
                  <a:srgbClr val="4A90E2"/>
                </a:solidFill>
              </a:defRPr>
            </a:pPr>
            <a:r>
              <a:t>MÃ QR SOÁT VÉ NÉT CAO</a:t>
            </a:r>
          </a:p>
          <a:p>
            <a:pPr>
              <a:spcAft>
                <a:spcPts val="600"/>
              </a:spcAft>
              <a:defRPr sz="1100">
                <a:solidFill>
                  <a:srgbClr val="F8FAFC"/>
                </a:solidFill>
              </a:defRPr>
            </a:pPr>
            <a:r>
              <a:t>• Tự động tạo mã vé chuẩn định dạng:</a:t>
            </a:r>
          </a:p>
          <a:p>
            <a:pPr>
              <a:spcAft>
                <a:spcPts val="600"/>
              </a:spcAft>
              <a:defRPr sz="1100">
                <a:solidFill>
                  <a:srgbClr val="94A3B8"/>
                </a:solidFill>
              </a:defRPr>
            </a:pPr>
            <a:r>
              <a:t>  Ví dụ: TKT-B05-8199</a:t>
            </a:r>
          </a:p>
          <a:p>
            <a:pPr>
              <a:spcAft>
                <a:spcPts val="600"/>
              </a:spcAft>
              <a:defRPr sz="1100">
                <a:solidFill>
                  <a:srgbClr val="F8FAFC"/>
                </a:solidFill>
              </a:defRPr>
            </a:pPr>
            <a:r>
              <a:t>• Sinh hình ảnh mã QR scannable tương thích camera quét của tài xế.</a:t>
            </a:r>
          </a:p>
          <a:p>
            <a:pPr>
              <a:spcAft>
                <a:spcPts val="600"/>
              </a:spcAft>
              <a:defRPr sz="1100">
                <a:solidFill>
                  <a:srgbClr val="F8FAFC"/>
                </a:solidFill>
              </a:defRPr>
            </a:pPr>
            <a:r>
              <a:t>• Hiển thị đầy đủ thông tin: Tên khách, Tuyến buýt, Số ghế và Giá vé.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PHÚT 12:00 - 13:30 | NGHIỆP VỤ NGƯỜI DÙNG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8FAFC"/>
                </a:solidFill>
              </a:defRPr>
            </a:pPr>
            <a:r>
              <a:t>CỔNG THÔNG TIN TÀI XẾ &amp; CỔNG HÀNH KHÁCH</a:t>
            </a:r>
          </a:p>
        </p:txBody>
      </p:sp>
      <p:sp>
        <p:nvSpPr>
          <p:cNvPr id="5" name="Rounded Rectangle 4"/>
          <p:cNvSpPr/>
          <p:nvPr/>
        </p:nvSpPr>
        <p:spPr>
          <a:xfrm>
            <a:off x="731520" y="1645920"/>
            <a:ext cx="5212080" cy="4389120"/>
          </a:xfrm>
          <a:prstGeom prst="roundRect">
            <a:avLst/>
          </a:prstGeom>
          <a:solidFill>
            <a:srgbClr val="1C254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34D399"/>
                </a:solidFill>
              </a:defRPr>
            </a:pPr>
            <a:r>
              <a:t>CỔNG THÔNG TIN TÀI XẾ (DRIVER PORTAL)</a:t>
            </a:r>
          </a:p>
          <a:p>
            <a:pPr>
              <a:spcAft>
                <a:spcPts val="800"/>
              </a:spcAft>
              <a:defRPr sz="1200">
                <a:solidFill>
                  <a:srgbClr val="94A3B8"/>
                </a:solidFill>
              </a:defRPr>
            </a:pPr>
            <a:r>
              <a:t>• Soát vé QR thời gian thực (US 15): Tài xế quét camera hoặc dán chuỗi QR để kiểm tra tính hợp lệ.</a:t>
            </a:r>
          </a:p>
          <a:p>
            <a:pPr>
              <a:spcAft>
                <a:spcPts val="800"/>
              </a:spcAft>
              <a:defRPr sz="1200">
                <a:solidFill>
                  <a:srgbClr val="94A3B8"/>
                </a:solidFill>
              </a:defRPr>
            </a:pPr>
            <a:r>
              <a:t>• Chống tái sử dụng vé: Tự động đổi trạng thái sang CHECKED_IN trong MySQL ngay khi quét thành công.</a:t>
            </a:r>
          </a:p>
          <a:p>
            <a:pPr>
              <a:spcAft>
                <a:spcPts val="800"/>
              </a:spcAft>
              <a:defRPr sz="1200">
                <a:solidFill>
                  <a:srgbClr val="94A3B8"/>
                </a:solidFill>
              </a:defRPr>
            </a:pPr>
            <a:r>
              <a:t>• Báo cáo sự cố đường sá (US 11): Báo tắc đường, thời tiết xấu hoặc tai nạn kèm số phút trễ dự kiến.</a:t>
            </a:r>
          </a:p>
          <a:p>
            <a:pPr>
              <a:spcAft>
                <a:spcPts val="800"/>
              </a:spcAft>
              <a:defRPr sz="1200">
                <a:solidFill>
                  <a:srgbClr val="94A3B8"/>
                </a:solidFill>
              </a:defRPr>
            </a:pPr>
            <a:r>
              <a:t>• Xem danh sách chuyến phân công và số lượng hành khách đã lên xe.</a:t>
            </a:r>
          </a:p>
        </p:txBody>
      </p:sp>
      <p:sp>
        <p:nvSpPr>
          <p:cNvPr id="6" name="Rounded Rectangle 5"/>
          <p:cNvSpPr/>
          <p:nvPr/>
        </p:nvSpPr>
        <p:spPr>
          <a:xfrm>
            <a:off x="6217920" y="1645920"/>
            <a:ext cx="5212080" cy="4389120"/>
          </a:xfrm>
          <a:prstGeom prst="roundRect">
            <a:avLst/>
          </a:prstGeom>
          <a:solidFill>
            <a:srgbClr val="1C254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38BDF8"/>
                </a:solidFill>
              </a:defRPr>
            </a:pPr>
            <a:r>
              <a:t>CỔNG HÀNH KHÁCH (PASSENGER PORTAL)</a:t>
            </a:r>
          </a:p>
          <a:p>
            <a:pPr>
              <a:spcAft>
                <a:spcPts val="800"/>
              </a:spcAft>
              <a:defRPr sz="1200">
                <a:solidFill>
                  <a:srgbClr val="94A3B8"/>
                </a:solidFill>
              </a:defRPr>
            </a:pPr>
            <a:r>
              <a:t>• Tra cứu chuyến xe theo ngày (US 01): Tìm chuyến hôm nay và tương lai, xem giờ xuất bến và ghế trống.</a:t>
            </a:r>
          </a:p>
          <a:p>
            <a:pPr>
              <a:spcAft>
                <a:spcPts val="800"/>
              </a:spcAft>
              <a:defRPr sz="1200">
                <a:solidFill>
                  <a:srgbClr val="94A3B8"/>
                </a:solidFill>
              </a:defRPr>
            </a:pPr>
            <a:r>
              <a:t>• Đặt vé chọn ghế &amp; nhận vé QR điện tử có hỗ trợ chính sách trợ giá sinh viên ICTU.</a:t>
            </a:r>
          </a:p>
          <a:p>
            <a:pPr>
              <a:spcAft>
                <a:spcPts val="800"/>
              </a:spcAft>
              <a:defRPr sz="1200">
                <a:solidFill>
                  <a:srgbClr val="94A3B8"/>
                </a:solidFill>
              </a:defRPr>
            </a:pPr>
            <a:r>
              <a:t>• Đánh giá &amp; Phản ánh (US 24): Gửi đánh giá sao (1–5 sao) và nhận xét thái độ phục vụ của bác tài.</a:t>
            </a:r>
          </a:p>
          <a:p>
            <a:pPr>
              <a:spcAft>
                <a:spcPts val="800"/>
              </a:spcAft>
              <a:defRPr sz="1200">
                <a:solidFill>
                  <a:srgbClr val="94A3B8"/>
                </a:solidFill>
              </a:defRPr>
            </a:pPr>
            <a:r>
              <a:t>• Hồ sơ ưu đãi HSSV (US 17): Đăng ký thẻ sinh viên để nhận giảm giá 50% vé lượt.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PHÚT 13:30 - 14:30 | BÀI HỌC KINH NGHIỆM</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8FAFC"/>
                </a:solidFill>
              </a:defRPr>
            </a:pPr>
            <a:r>
              <a:t>CÁC THÁCH THỨC KỸ THUẬT TIÊU BIỂU ĐÃ VƯỢT QUA</a:t>
            </a:r>
          </a:p>
        </p:txBody>
      </p:sp>
      <p:sp>
        <p:nvSpPr>
          <p:cNvPr id="5" name="Rounded Rectangle 4"/>
          <p:cNvSpPr/>
          <p:nvPr/>
        </p:nvSpPr>
        <p:spPr>
          <a:xfrm>
            <a:off x="731520" y="1645920"/>
            <a:ext cx="10698480" cy="1325880"/>
          </a:xfrm>
          <a:prstGeom prst="roundRect">
            <a:avLst/>
          </a:prstGeom>
          <a:solidFill>
            <a:srgbClr val="1C2541"/>
          </a:solidFill>
          <a:ln>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b="1">
                <a:solidFill>
                  <a:srgbClr val="4A90E2"/>
                </a:solidFill>
              </a:defRPr>
            </a:pPr>
            <a:r>
              <a:t>🛠️ LỖI SẬP MÀN HÌNH ĐEN (CỔNG 3000)</a:t>
            </a:r>
          </a:p>
          <a:p>
            <a:pPr>
              <a:defRPr sz="1100">
                <a:solidFill>
                  <a:srgbClr val="94A3B8"/>
                </a:solidFill>
              </a:defRPr>
            </a:pPr>
            <a:r>
              <a:t>• Nguyên nhân: Công cụ serve -s không proxy API làm React unmount toàn bộ DOM tree.</a:t>
            </a:r>
          </a:p>
          <a:p>
            <a:pPr>
              <a:defRPr sz="1100">
                <a:solidFill>
                  <a:srgbClr val="94A3B8"/>
                </a:solidFill>
              </a:defRPr>
            </a:pPr>
            <a:r>
              <a:t>• Giải pháp: Xây dựng Nginx Reverse Proxy, chuyển hướng /api/ về Backend và bọc thẻ ErrorBoundary.</a:t>
            </a:r>
          </a:p>
        </p:txBody>
      </p:sp>
      <p:sp>
        <p:nvSpPr>
          <p:cNvPr id="6" name="Rounded Rectangle 5"/>
          <p:cNvSpPr/>
          <p:nvPr/>
        </p:nvSpPr>
        <p:spPr>
          <a:xfrm>
            <a:off x="731520" y="3200400"/>
            <a:ext cx="10698480" cy="1325880"/>
          </a:xfrm>
          <a:prstGeom prst="roundRect">
            <a:avLst/>
          </a:prstGeom>
          <a:solidFill>
            <a:srgbClr val="1C254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b="1">
                <a:solidFill>
                  <a:srgbClr val="38BDF8"/>
                </a:solidFill>
              </a:defRPr>
            </a:pPr>
            <a:r>
              <a:t>🛠️ LỖI PHÔNG TIẾNG VIỆT TRONG MYSQL</a:t>
            </a:r>
          </a:p>
          <a:p>
            <a:pPr>
              <a:defRPr sz="1100">
                <a:solidFill>
                  <a:srgbClr val="94A3B8"/>
                </a:solidFill>
              </a:defRPr>
            </a:pPr>
            <a:r>
              <a:t>• Nguyên nhân: Kết nối client mặc định latin1 làm ký tự có dấu biến thành dấu ???.</a:t>
            </a:r>
          </a:p>
          <a:p>
            <a:pPr>
              <a:defRPr sz="1100">
                <a:solidFill>
                  <a:srgbClr val="94A3B8"/>
                </a:solidFill>
              </a:defRPr>
            </a:pPr>
            <a:r>
              <a:t>• Giải pháp: Ép chuẩn SET NAMES utf8mb4; trong init.sql và cấu hình charset utf8mb4 cho Connection Pool.</a:t>
            </a:r>
          </a:p>
        </p:txBody>
      </p:sp>
      <p:sp>
        <p:nvSpPr>
          <p:cNvPr id="7" name="Rounded Rectangle 6"/>
          <p:cNvSpPr/>
          <p:nvPr/>
        </p:nvSpPr>
        <p:spPr>
          <a:xfrm>
            <a:off x="731520" y="4754880"/>
            <a:ext cx="10698480" cy="1325880"/>
          </a:xfrm>
          <a:prstGeom prst="roundRect">
            <a:avLst/>
          </a:prstGeom>
          <a:solidFill>
            <a:srgbClr val="1C254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b="1">
                <a:solidFill>
                  <a:srgbClr val="34D399"/>
                </a:solidFill>
              </a:defRPr>
            </a:pPr>
            <a:r>
              <a:t>🛠️ LỖI KHÔNG HIỂN THỊ MÃ QR &amp; INVALID DATE</a:t>
            </a:r>
          </a:p>
          <a:p>
            <a:pPr>
              <a:defRPr sz="1100">
                <a:solidFill>
                  <a:srgbClr val="94A3B8"/>
                </a:solidFill>
              </a:defRPr>
            </a:pPr>
            <a:r>
              <a:t>• Nguyên nhân: Payload Backend bị lệch cấu trúc so với kỳ vọng của component Frontend.</a:t>
            </a:r>
          </a:p>
          <a:p>
            <a:pPr>
              <a:defRPr sz="1100">
                <a:solidFill>
                  <a:srgbClr val="94A3B8"/>
                </a:solidFill>
              </a:defRPr>
            </a:pPr>
            <a:r>
              <a:t>• Giải pháp: Chuẩn hóa payload trả về đầy đủ cả dạng lồng nhau và phẳng, render ảnh QR nét cao.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PHÚT 14:30 - 15:00 | NGHIỆM THU &amp; LỘ TRÌNH</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F8FAFC"/>
                </a:solidFill>
              </a:defRPr>
            </a:pPr>
            <a:r>
              <a:t>TỔNG KẾT SPRINT 1 &amp; KẾ HOẠCH SPRINT 2</a:t>
            </a:r>
          </a:p>
        </p:txBody>
      </p:sp>
      <p:sp>
        <p:nvSpPr>
          <p:cNvPr id="5" name="Rounded Rectangle 4"/>
          <p:cNvSpPr/>
          <p:nvPr/>
        </p:nvSpPr>
        <p:spPr>
          <a:xfrm>
            <a:off x="731520" y="1645920"/>
            <a:ext cx="5212080" cy="4389120"/>
          </a:xfrm>
          <a:prstGeom prst="roundRect">
            <a:avLst/>
          </a:prstGeom>
          <a:solidFill>
            <a:srgbClr val="1C2541"/>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34D399"/>
                </a:solidFill>
              </a:defRPr>
            </a:pPr>
            <a:r>
              <a:t>KẾT QUẢ NGHIỆM THU SPRINT 1 (100% ĐẠT)</a:t>
            </a:r>
          </a:p>
          <a:p>
            <a:pPr>
              <a:spcAft>
                <a:spcPts val="800"/>
              </a:spcAft>
              <a:defRPr sz="1200">
                <a:solidFill>
                  <a:srgbClr val="F8FAFC"/>
                </a:solidFill>
              </a:defRPr>
            </a:pPr>
            <a:r>
              <a:t>✔ 100% Zero Mock Data: Kết nối trực tiếp CSDL MySQL 8.0 thật.</a:t>
            </a:r>
          </a:p>
          <a:p>
            <a:pPr>
              <a:spcAft>
                <a:spcPts val="800"/>
              </a:spcAft>
              <a:defRPr sz="1200">
                <a:solidFill>
                  <a:srgbClr val="F8FAFC"/>
                </a:solidFill>
              </a:defRPr>
            </a:pPr>
            <a:r>
              <a:t>✔ Hạ tầng Docker Compose 4 containers chạy mượt mà bằng 1 câu lệnh.</a:t>
            </a:r>
          </a:p>
          <a:p>
            <a:pPr>
              <a:spcAft>
                <a:spcPts val="800"/>
              </a:spcAft>
              <a:defRPr sz="1200">
                <a:solidFill>
                  <a:srgbClr val="F8FAFC"/>
                </a:solidFill>
              </a:defRPr>
            </a:pPr>
            <a:r>
              <a:t>✔ Hoàn thành trọn vẹn 8 User Stories cam kết trong Sprint 1.</a:t>
            </a:r>
          </a:p>
          <a:p>
            <a:pPr>
              <a:spcAft>
                <a:spcPts val="800"/>
              </a:spcAft>
              <a:defRPr sz="1200">
                <a:solidFill>
                  <a:srgbClr val="F8FAFC"/>
                </a:solidFill>
              </a:defRPr>
            </a:pPr>
            <a:r>
              <a:t>✔ Hệ thống đã kiểm thử tích hợp (Integration Test) thành công tất cả vai trò.</a:t>
            </a:r>
          </a:p>
          <a:p>
            <a:pPr>
              <a:spcAft>
                <a:spcPts val="800"/>
              </a:spcAft>
              <a:defRPr sz="1200">
                <a:solidFill>
                  <a:srgbClr val="F8FAFC"/>
                </a:solidFill>
              </a:defRPr>
            </a:pPr>
            <a:r>
              <a:t>✔ Mã nguồn đã được đẩy lên GitHub và sẵn sàng bàn giao.</a:t>
            </a:r>
          </a:p>
        </p:txBody>
      </p:sp>
      <p:sp>
        <p:nvSpPr>
          <p:cNvPr id="6" name="Rounded Rectangle 5"/>
          <p:cNvSpPr/>
          <p:nvPr/>
        </p:nvSpPr>
        <p:spPr>
          <a:xfrm>
            <a:off x="6217920" y="1645920"/>
            <a:ext cx="5212080" cy="4389120"/>
          </a:xfrm>
          <a:prstGeom prst="roundRect">
            <a:avLst/>
          </a:prstGeom>
          <a:solidFill>
            <a:srgbClr val="1C2541"/>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38BDF8"/>
                </a:solidFill>
              </a:defRPr>
            </a:pPr>
            <a:r>
              <a:t>LỘ TRÌNH PHÁT TRIỂN SPRINT 2</a:t>
            </a:r>
          </a:p>
          <a:p>
            <a:pPr>
              <a:spcAft>
                <a:spcPts val="800"/>
              </a:spcAft>
              <a:defRPr sz="1200">
                <a:solidFill>
                  <a:srgbClr val="F8FAFC"/>
                </a:solidFill>
              </a:defRPr>
            </a:pPr>
            <a:r>
              <a:t>🚀 Tích hợp cổng thanh toán trực tuyến: VNPay Sandbox &amp; Ví điện tử MoMo.</a:t>
            </a:r>
          </a:p>
          <a:p>
            <a:pPr>
              <a:spcAft>
                <a:spcPts val="800"/>
              </a:spcAft>
              <a:defRPr sz="1200">
                <a:solidFill>
                  <a:srgbClr val="F8FAFC"/>
                </a:solidFill>
              </a:defRPr>
            </a:pPr>
            <a:r>
              <a:t>🚀 Giám sát xe buýt thời gian thực (Live GPS Tracking) trên bản đồ số Mapbox / Leaflet.</a:t>
            </a:r>
          </a:p>
          <a:p>
            <a:pPr>
              <a:spcAft>
                <a:spcPts val="800"/>
              </a:spcAft>
              <a:defRPr sz="1200">
                <a:solidFill>
                  <a:srgbClr val="F8FAFC"/>
                </a:solidFill>
              </a:defRPr>
            </a:pPr>
            <a:r>
              <a:t>🚀 Xây dựng phiên bản PWA (Progressive Web App) lưu trữ vé điện tử offline.</a:t>
            </a:r>
          </a:p>
          <a:p>
            <a:pPr>
              <a:spcAft>
                <a:spcPts val="800"/>
              </a:spcAft>
              <a:defRPr sz="1200">
                <a:solidFill>
                  <a:srgbClr val="F8FAFC"/>
                </a:solidFill>
              </a:defRPr>
            </a:pPr>
            <a:r>
              <a:t>🚀 Hệ thống thông báo đẩy (Push Notifications) khi xe sắp đến trạm.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926080"/>
          </a:xfrm>
          <a:prstGeom prst="rect">
            <a:avLst/>
          </a:prstGeom>
          <a:noFill/>
        </p:spPr>
        <p:txBody>
          <a:bodyPr wrap="square">
            <a:spAutoFit/>
          </a:bodyPr>
          <a:lstStyle/>
          <a:p>
            <a:pPr algn="ctr">
              <a:spcAft>
                <a:spcPts val="1600"/>
              </a:spcAft>
              <a:defRPr sz="3600" b="1">
                <a:solidFill>
                  <a:srgbClr val="F8FAFC"/>
                </a:solidFill>
              </a:defRPr>
            </a:pPr>
            <a:r>
              <a:t>XIN TRÂN TRỌNG CẢM ƠN!</a:t>
            </a:r>
            <a:br/>
            <a:r>
              <a:t>THẦY CÔ &amp; HỘI ĐỒNG THẨM ĐỊNH</a:t>
            </a:r>
          </a:p>
          <a:p>
            <a:pPr algn="ctr">
              <a:spcAft>
                <a:spcPts val="2000"/>
              </a:spcAft>
              <a:defRPr sz="1800" b="1">
                <a:solidFill>
                  <a:srgbClr val="38BDF8"/>
                </a:solidFill>
              </a:defRPr>
            </a:pPr>
            <a:r>
              <a:t>Q &amp; A — PHIÊN HỎI ĐÁP &amp; ĐÓNG GÓP Ý KIẾN</a:t>
            </a:r>
          </a:p>
          <a:p>
            <a:pPr algn="ctr">
              <a:defRPr sz="1300">
                <a:solidFill>
                  <a:srgbClr val="94A3B8"/>
                </a:solidFill>
              </a:defRPr>
            </a:pPr>
            <a:r>
              <a:t>Kho lưu trữ GitHub: github.com/tamtran2k6zz/Project_Smart_Bus_Ticketing_System_ictu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